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1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E5FF"/>
                </a:solidFill>
              </a:defRPr>
            </a:pPr>
            <a:r>
              <a:t>HỌC PHẦN: BẢO MẬT MẠNG MÁY TÍNH VÀ HỆ THỐNG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</a:defRPr>
            </a:pPr>
            <a:r>
              <a:t>SECUDOC: HỆ THỐNG XÁC MINH CHỨNG THỰC</a:t>
            </a:r>
            <a:br/>
            <a:r>
              <a:t>VĂN BẢN SỐ CHỐNG GIẢ MẠO</a:t>
            </a:r>
          </a:p>
          <a:p>
            <a:pPr>
              <a:spcAft>
                <a:spcPts val="2400"/>
              </a:spcAft>
              <a:defRPr sz="1500">
                <a:solidFill>
                  <a:srgbClr val="8FA0C0"/>
                </a:solidFill>
              </a:defRPr>
            </a:pPr>
            <a:r>
              <a:t>Kiến trúc Zero-Trust kết hợp Chữ ký số RSA-2048, Mã băm SHA-256 và Sổ cái Bất biến</a:t>
            </a:r>
          </a:p>
          <a:p>
            <a:pPr>
              <a:defRPr sz="1300" b="1">
                <a:solidFill>
                  <a:srgbClr val="00E676"/>
                </a:solidFill>
              </a:defRPr>
            </a:pPr>
            <a:r>
              <a:t>Sinh viên thực hiện: (Điền Họ tên &amp; MSSV)  |  Giảng viên hướng dẫn: (Điền thông tin)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ĐẶT VẤN ĐỀ: THỰC TRẠNG GIAN LẬN VĂN BẢN SỐ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1744"/>
                </a:solidFill>
              </a:defRPr>
            </a:pPr>
            <a:r>
              <a:t>Vấn Nạn Thực Tế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</a:defRPr>
            </a:pPr>
            <a:r>
              <a:t>Bằng cấp, chứng chỉ, bảng điểm số bị sửa đổi điểm số (GPA 2.5 -&gt; 3.9) dễ dàng bằng các phần mềm đồ họa chỉ trong vài phút.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AB00"/>
                </a:solidFill>
              </a:defRPr>
            </a:pPr>
            <a:r>
              <a:t>Hạn Chế Của Con Người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</a:defRPr>
            </a:pPr>
            <a:r>
              <a:t>Mắt thường không thể phân biệt tệp PDF nguyên bản và tệp bị chỉnh sửa. Hình ảnh con dấu hay logo rất dễ bị sao chép trái phép.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E5FF"/>
                </a:solidFill>
              </a:defRPr>
            </a:pPr>
            <a:r>
              <a:t>Thiếu Cơ Chế Thu Hồi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</a:defRPr>
            </a:pPr>
            <a:r>
              <a:t>Các văn bản sau khi phát hành nếu bị thu hồi do kỷ luật thường không có cơ chế đối soát tức thì, kẻ gian vẫn đem đi lừa đảo.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NGUYÊN TẮC CỐT LÕI: KHÔNG TIN TƯỞNG ĐẦU VÀO (ZERO-TRUST)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5912" cy="1097280"/>
          </a:xfrm>
          <a:prstGeom prst="rect">
            <a:avLst/>
          </a:prstGeom>
          <a:solidFill>
            <a:srgbClr val="101A3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E5FF"/>
                </a:solidFill>
              </a:defRPr>
            </a:pPr>
            <a:r>
              <a:t>“Không phải mọi thông tin mà hệ thống nhận được đều đáng tin cậy.”</a:t>
            </a:r>
            <a:br/>
            <a:r>
              <a:t>Tuyệt đối không mặc định tin tệp dữ liệu chỉ vì nó trông có vẻ thật.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2560320" cy="3108960"/>
          </a:xfrm>
          <a:prstGeom prst="roundRect">
            <a:avLst/>
          </a:prstGeom>
          <a:solidFill>
            <a:srgbClr val="101A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E676"/>
                </a:solidFill>
              </a:defRPr>
            </a:pPr>
            <a:r>
              <a:t>1. BĂM PHÂN MẢNH</a:t>
            </a:r>
          </a:p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</a:defRPr>
            </a:pPr>
            <a:r>
              <a:t>SHA-256 đọc từng chunk 64KB, kiểm soát tính toàn vẹn tới từng bit nhị phân.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017520"/>
            <a:ext cx="2560320" cy="3108960"/>
          </a:xfrm>
          <a:prstGeom prst="roundRect">
            <a:avLst/>
          </a:prstGeom>
          <a:solidFill>
            <a:srgbClr val="101A3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E5FF"/>
                </a:solidFill>
              </a:defRPr>
            </a:pPr>
            <a:r>
              <a:t>2. CHỮ KÝ SỐ RSA</a:t>
            </a:r>
          </a:p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</a:defRPr>
            </a:pPr>
            <a:r>
              <a:t>Ký số bằng Khóa riêng của Trường; xác thực nguồn gốc và chống chối bỏ.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2560320" cy="3108960"/>
          </a:xfrm>
          <a:prstGeom prst="roundRect">
            <a:avLst/>
          </a:prstGeom>
          <a:solidFill>
            <a:srgbClr val="101A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AB00"/>
                </a:solidFill>
              </a:defRPr>
            </a:pPr>
            <a:r>
              <a:t>3. TRA CỨU THU HỒI</a:t>
            </a:r>
          </a:p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</a:defRPr>
            </a:pPr>
            <a:r>
              <a:t>Kiểm tra danh sách thu hồi thời gian thực tại thời điểm kiểm tra.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017520"/>
            <a:ext cx="2560320" cy="3108960"/>
          </a:xfrm>
          <a:prstGeom prst="roundRect">
            <a:avLst/>
          </a:prstGeom>
          <a:solidFill>
            <a:srgbClr val="101A30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1744"/>
                </a:solidFill>
              </a:defRPr>
            </a:pPr>
            <a:r>
              <a:t>4. SỔ CÁI BẤT BIẾN</a:t>
            </a:r>
          </a:p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</a:defRPr>
            </a:pPr>
            <a:r>
              <a:t>Chuỗi băm Merkle liên hoàn chống kẻ gian nội bộ sửa lén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KHẢO SÁT 6 ĐỀ TÀI &amp; QUYẾT ĐỊNH LỰA CHỌN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01A3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BẢNG CHẤM ĐIỂM 6 ĐỀ TÀI (THANG 100)</a:t>
            </a:r>
          </a:p>
          <a:p>
            <a:pPr>
              <a:spcAft>
                <a:spcPts val="600"/>
              </a:spcAft>
              <a:defRPr sz="1150" b="1">
                <a:solidFill>
                  <a:srgbClr val="00E676"/>
                </a:solidFill>
              </a:defRPr>
            </a:pPr>
            <a:r>
              <a:t>1. SecuDoc (Xác minh văn bản chống giả mạo): 100.0 / 100 ★</a:t>
            </a:r>
          </a:p>
          <a:p>
            <a:pPr>
              <a:spcAft>
                <a:spcPts val="600"/>
              </a:spcAft>
              <a:defRPr sz="1150" b="0">
                <a:solidFill>
                  <a:srgbClr val="FFFFFF"/>
                </a:solidFill>
              </a:defRPr>
            </a:pPr>
            <a:r>
              <a:t>2. MediPrivacy (Hồ sơ bệnh án phân quyền): 83.0 / 100</a:t>
            </a:r>
          </a:p>
          <a:p>
            <a:pPr>
              <a:spcAft>
                <a:spcPts val="600"/>
              </a:spcAft>
              <a:defRPr sz="1150" b="0">
                <a:solidFill>
                  <a:srgbClr val="FFFFFF"/>
                </a:solidFill>
              </a:defRPr>
            </a:pPr>
            <a:r>
              <a:t>3. SafeVault (Kho file Zero-Trust tự hủy): 80.0 / 100</a:t>
            </a:r>
          </a:p>
          <a:p>
            <a:pPr>
              <a:spcAft>
                <a:spcPts val="600"/>
              </a:spcAft>
              <a:defRPr sz="1150" b="0">
                <a:solidFill>
                  <a:srgbClr val="FFFFFF"/>
                </a:solidFill>
              </a:defRPr>
            </a:pPr>
            <a:r>
              <a:t>4. APIShield (Cổng bảo mật API JWT/Rate Limit): 77.5 / 100</a:t>
            </a:r>
          </a:p>
          <a:p>
            <a:pPr>
              <a:spcAft>
                <a:spcPts val="600"/>
              </a:spcAft>
              <a:defRPr sz="1150" b="0">
                <a:solidFill>
                  <a:srgbClr val="FFFFFF"/>
                </a:solidFill>
              </a:defRPr>
            </a:pPr>
            <a:r>
              <a:t>5. ForensicChain (Chuỗi chứng cứ số pháp lý): 86.0 / 100</a:t>
            </a:r>
          </a:p>
          <a:p>
            <a:pPr>
              <a:spcAft>
                <a:spcPts val="600"/>
              </a:spcAft>
              <a:defRPr sz="1150" b="0">
                <a:solidFill>
                  <a:srgbClr val="FFFFFF"/>
                </a:solidFill>
              </a:defRPr>
            </a:pPr>
            <a:r>
              <a:t>6. PhishGuard (Lá chắn email &amp; URL lừa đảo): 77.0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01A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676"/>
                </a:solidFill>
              </a:defRPr>
            </a:pPr>
            <a:r>
              <a:t>TẠI SAO SECUDOC CHIẾN THẮNG?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Thể hiện trực tiếp nguyên tắc 'Không tin cậy đầu vào' của đề bài.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Kịch bản tấn công thực tế và thuyết phục: Sửa 1 byte điểm số là bị phát hiện tức thì.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Sử dụng cơ chế mật mã học chuẩn (RSA-2048, SHA-256, Merkle Hash Chain).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Khả thi 100% trên môi trường Windows local, chi phí bằng 0.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Khả năng kiểm thử tự động toàn diện (25/25 test cases PASS).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MÔ HÌNH ĐE DỌA STRIDE VÀ MA TRẬN PHÒNG THỦ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777240"/>
          </a:xfrm>
          <a:prstGeom prst="roundRect">
            <a:avLst/>
          </a:prstGeom>
          <a:solidFill>
            <a:srgbClr val="101A3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0E5FF"/>
                </a:solidFill>
              </a:defRPr>
            </a:pPr>
            <a:r>
              <a:t>S - Spoofing (Giả Mạo): Kẻ gian tự tạo khóa ký giả mạo của trường.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🛡️ Biện pháp phòng thủ: Root Public Key từ chối mọi chữ ký không do khóa gốc tạo 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725912" cy="777240"/>
          </a:xfrm>
          <a:prstGeom prst="roundRect">
            <a:avLst/>
          </a:prstGeom>
          <a:solidFill>
            <a:srgbClr val="101A30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1744"/>
                </a:solidFill>
              </a:defRPr>
            </a:pPr>
            <a:r>
              <a:t>T - Tampering (Can Thiệp): Sửa 1 ký tự điểm GPA trong file PDF.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🛡️ Biện pháp phòng thủ: SHA-256 Stream Hashing phát hiện sai lệch từng bit nhị phân.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725912" cy="777240"/>
          </a:xfrm>
          <a:prstGeom prst="roundRect">
            <a:avLst/>
          </a:prstGeom>
          <a:solidFill>
            <a:srgbClr val="101A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83863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AB00"/>
                </a:solidFill>
              </a:defRPr>
            </a:pPr>
            <a:r>
              <a:t>R - Repudiation (Chối Bỏ): Trường chối bỏ việc đã từng cấp chứng chỉ.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🛡️ Biện pháp phòng thủ: Chữ ký RSA-2048 PKCS#1 v1.5 mang giá trị pháp lý không thể chối bỏ.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725912" cy="777240"/>
          </a:xfrm>
          <a:prstGeom prst="roundRect">
            <a:avLst/>
          </a:prstGeom>
          <a:solidFill>
            <a:srgbClr val="101A30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9976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1744"/>
                </a:solidFill>
              </a:defRPr>
            </a:pPr>
            <a:r>
              <a:t>T - Tampering (DB Nội Bộ): Kẻ gian sửa trực tiếp ô dữ liệu trong SQLite.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🛡️ Biện pháp phòng thủ: Sổ cái băm Merkle phát hiện đứt gãy chuỗi ngay tại block bị sửa.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0368"/>
            <a:ext cx="10725912" cy="777240"/>
          </a:xfrm>
          <a:prstGeom prst="roundRect">
            <a:avLst/>
          </a:prstGeom>
          <a:solidFill>
            <a:srgbClr val="101A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7608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0E676"/>
                </a:solidFill>
              </a:defRPr>
            </a:pPr>
            <a:r>
              <a:t>E - Elevation of Privilege: Người dùng thường tự gọi API cấp bằng.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🛡️ Biện pháp phòng thủ: Server-side RBAC (@require_role) chặn đứng với HTTP 403.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KIẾN TRÚC HỆ THỐNG ĐA TẦNG (LAYERED ARCHITECTURE)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45752" cy="6297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QUY TRÌNH THẨM ĐỊNH VĂN BẢN ZERO-TRUST</a:t>
            </a:r>
          </a:p>
        </p:txBody>
      </p:sp>
      <p:pic>
        <p:nvPicPr>
          <p:cNvPr id="5" name="Picture 4" descr="data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45752" cy="55100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HIỆN THỰC PROTOTYPE VÀ CÔNG NGHỆ ÁP DỤNG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E5FF"/>
                </a:solidFill>
              </a:defRPr>
            </a:pPr>
            <a:r>
              <a:t>Tech Stack</a:t>
            </a:r>
          </a:p>
          <a:p>
            <a:pPr>
              <a:lnSpc>
                <a:spcPct val="135000"/>
              </a:lnSpc>
              <a:defRPr sz="1250">
                <a:solidFill>
                  <a:srgbClr val="FFFFFF"/>
                </a:solidFill>
              </a:defRPr>
            </a:pPr>
            <a:r>
              <a:t>• Python 3.14 (Core Runtime)</a:t>
            </a:r>
            <a:br/>
            <a:r>
              <a:t>• Flask 3.1 (REST API &amp; Gateway)</a:t>
            </a:r>
            <a:br/>
            <a:r>
              <a:t>• Cryptography 50.0 (RSA &amp; Hash)</a:t>
            </a:r>
            <a:br/>
            <a:r>
              <a:t>• SQLite 3 (Indexed Relational Storage)</a:t>
            </a:r>
            <a:br/>
            <a:r>
              <a:t>• HTML5/CSS3/JS (Vanilla Cyber Theme)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E676"/>
                </a:solidFill>
              </a:defRPr>
            </a:pPr>
            <a:r>
              <a:t>Cơ Chế Bảo Vệ</a:t>
            </a:r>
          </a:p>
          <a:p>
            <a:pPr>
              <a:lnSpc>
                <a:spcPct val="135000"/>
              </a:lnSpc>
              <a:defRPr sz="1250">
                <a:solidFill>
                  <a:srgbClr val="FFFFFF"/>
                </a:solidFill>
              </a:defRPr>
            </a:pPr>
            <a:r>
              <a:t>• SHA-256 Stream Chunking (64KB)</a:t>
            </a:r>
            <a:br/>
            <a:r>
              <a:t>• RSA-2048 PKCS#1 v1.5 Signatures</a:t>
            </a:r>
            <a:br/>
            <a:r>
              <a:t>• Merkle / Hash Chain Audit Ledger</a:t>
            </a:r>
            <a:br/>
            <a:r>
              <a:t>• PBKDF2-HMAC (100k rounds, 16B salt)</a:t>
            </a:r>
            <a:br/>
            <a:r>
              <a:t>• UUID File Vault Isolation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FAB00"/>
                </a:solidFill>
              </a:defRPr>
            </a:pPr>
            <a:r>
              <a:t>Giao Diện &amp; CLI</a:t>
            </a:r>
          </a:p>
          <a:p>
            <a:pPr>
              <a:lnSpc>
                <a:spcPct val="135000"/>
              </a:lnSpc>
              <a:defRPr sz="1250">
                <a:solidFill>
                  <a:srgbClr val="FFFFFF"/>
                </a:solidFill>
              </a:defRPr>
            </a:pPr>
            <a:r>
              <a:t>• Cổng thẩm định kéo thả tức thì</a:t>
            </a:r>
            <a:br/>
            <a:r>
              <a:t>• Bảng điều khiển Issuer (Ký &amp; Thu hồi)</a:t>
            </a:r>
            <a:br/>
            <a:r>
              <a:t>• Sổ cái giám sát cho Auditor</a:t>
            </a:r>
            <a:br/>
            <a:r>
              <a:t>• Phòng thí nghiệm Attack Lab 1-click</a:t>
            </a:r>
            <a:br/>
            <a:r>
              <a:t>• Công cụ Terminal CLI Headless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PHÒNG THÍ NGHIỆM TẤN CÔNG &amp; ĐIỀU TRA SỐ (ATTACK LAB)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01A30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1744"/>
                </a:solidFill>
              </a:defRPr>
            </a:pPr>
            <a:r>
              <a:t>KỊCH BẢN 1: TẤN CÔNG ĐẢO 1 BIT (BIT-FLIP)</a:t>
            </a:r>
          </a:p>
          <a:p>
            <a:pPr>
              <a:lnSpc>
                <a:spcPct val="125000"/>
              </a:lnSpc>
              <a:defRPr sz="1100">
                <a:solidFill>
                  <a:srgbClr val="FFFFFF"/>
                </a:solidFill>
              </a:defRPr>
            </a:pPr>
            <a:r>
              <a:t>Kẻ gian sửa 1 ký tự điểm GPA trong bảng điểm.</a:t>
            </a:r>
            <a:br/>
            <a:r>
              <a:t>-&gt; Kính hiển vi byte bóc tách offset 0x0000; Ma trận tuyết lở 256-bit (Avalanche Heatmap) đổi màu 50% bits; Báo TAMPERED_CONTENT.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01A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AB00"/>
                </a:solidFill>
              </a:defRPr>
            </a:pPr>
            <a:r>
              <a:t>KỊCH BẢN 2: GIẢ MẠO CHỮ KÝ BẰNG KHÓA LẠ</a:t>
            </a:r>
          </a:p>
          <a:p>
            <a:pPr>
              <a:lnSpc>
                <a:spcPct val="125000"/>
              </a:lnSpc>
              <a:defRPr sz="1100">
                <a:solidFill>
                  <a:srgbClr val="FFFFFF"/>
                </a:solidFill>
              </a:defRPr>
            </a:pPr>
            <a:r>
              <a:t>Kẻ mạo danh tự sinh khóa RSA riêng và ký lên văn bản giả mạo.</a:t>
            </a:r>
            <a:br/>
            <a:r>
              <a:t>-&gt; Kết quả: Root Public Key từ chối chữ ký; hệ thống báo INVALID_SIGNATURE.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01A3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E5FF"/>
                </a:solidFill>
              </a:defRPr>
            </a:pPr>
            <a:r>
              <a:t>KỊCH BẢN 3: VƯỢT RÀO VĂN BẢN ĐÃ THU HỒI</a:t>
            </a:r>
          </a:p>
          <a:p>
            <a:pPr>
              <a:lnSpc>
                <a:spcPct val="125000"/>
              </a:lnSpc>
              <a:defRPr sz="1100">
                <a:solidFill>
                  <a:srgbClr val="FFFFFF"/>
                </a:solidFill>
              </a:defRPr>
            </a:pPr>
            <a:r>
              <a:t>Ứng viên bị kỷ luật dùng văn bản đã bị thu hồi đi nộp hồ sơ.</a:t>
            </a:r>
            <a:br/>
            <a:r>
              <a:t>-&gt; Kết quả: Zero-Trust Engine phát hiện trạng thái REVOKED kèm lý do kỷ luật.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01A30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1744"/>
                </a:solidFill>
              </a:defRPr>
            </a:pPr>
            <a:r>
              <a:t>KỊCH BẢN 4: SỬA LÉN DATABASE &amp; TỰ LÀNH</a:t>
            </a:r>
          </a:p>
          <a:p>
            <a:pPr>
              <a:lnSpc>
                <a:spcPct val="125000"/>
              </a:lnSpc>
              <a:defRPr sz="1100">
                <a:solidFill>
                  <a:srgbClr val="FFFFFF"/>
                </a:solidFill>
              </a:defRPr>
            </a:pPr>
            <a:r>
              <a:t>Quản trị viên nội bộ vào SQLite sửa trường dữ liệu của Block 0.</a:t>
            </a:r>
            <a:br/>
            <a:r>
              <a:t>-&gt; Kết quả: Sổ cái báo vỡ chuỗi tại Block 1; hỗ trợ nút Khôi phục tự lành (Self-Healing).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KẾT QUẢ KIỂM THỬ THỰC TẾ (TEST RESULTS)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005840"/>
          </a:xfrm>
          <a:prstGeom prst="roundRect">
            <a:avLst/>
          </a:prstGeom>
          <a:solidFill>
            <a:srgbClr val="101A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TỔNG SỐ TEST CASES: 27 / 27 ĐẠT (PASS 100%)  |  THỜI GIAN THỰC THI: 4.08s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560320" cy="3291840"/>
          </a:xfrm>
          <a:prstGeom prst="roundRect">
            <a:avLst/>
          </a:prstGeom>
          <a:solidFill>
            <a:srgbClr val="101A3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E5FF"/>
                </a:solidFill>
              </a:defRPr>
            </a:pPr>
            <a:r>
              <a:t>Mật Mã Học (9 Tests)</a:t>
            </a:r>
          </a:p>
          <a:p>
            <a:pPr>
              <a:lnSpc>
                <a:spcPct val="125000"/>
              </a:lnSpc>
              <a:defRPr sz="1000">
                <a:solidFill>
                  <a:srgbClr val="FFFFFF"/>
                </a:solidFill>
              </a:defRPr>
            </a:pPr>
            <a:r>
              <a:t>✓ SHA-256 standard digests</a:t>
            </a:r>
            <a:br/>
            <a:r>
              <a:t>✓ Avalanche effect (&gt;40% bits)</a:t>
            </a:r>
            <a:br/>
            <a:r>
              <a:t>✓ 256-bit vector difference</a:t>
            </a:r>
            <a:br/>
            <a:r>
              <a:t>✓ RSA-2048 keypair lifecycle</a:t>
            </a:r>
            <a:br/>
            <a:r>
              <a:t>✓ RSA-PKCS#1 v1.5 Sign &amp; Verify</a:t>
            </a:r>
            <a:br/>
            <a:r>
              <a:t>✓ Tamper rejection on hash flip</a:t>
            </a:r>
            <a:br/>
            <a:r>
              <a:t>✓ Rogue key rejection</a:t>
            </a:r>
            <a:br/>
            <a:r>
              <a:t>✓ Merkle chain verification</a:t>
            </a:r>
            <a:br/>
            <a:r>
              <a:t>✓ Tamper detection on 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834640"/>
            <a:ext cx="2560320" cy="3291840"/>
          </a:xfrm>
          <a:prstGeom prst="roundRect">
            <a:avLst/>
          </a:prstGeom>
          <a:solidFill>
            <a:srgbClr val="101A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E676"/>
                </a:solidFill>
              </a:defRPr>
            </a:pPr>
            <a:r>
              <a:t>Xác Thực &amp; RBAC (3 Tests)</a:t>
            </a:r>
          </a:p>
          <a:p>
            <a:pPr>
              <a:lnSpc>
                <a:spcPct val="125000"/>
              </a:lnSpc>
              <a:defRPr sz="1000">
                <a:solidFill>
                  <a:srgbClr val="FFFFFF"/>
                </a:solidFill>
              </a:defRPr>
            </a:pPr>
            <a:r>
              <a:t>✓ PBKDF2 hash &amp; verify</a:t>
            </a:r>
            <a:br/>
            <a:r>
              <a:t>✓ 100,000 iterations work factor</a:t>
            </a:r>
            <a:br/>
            <a:r>
              <a:t>✓ Salt uniqueness per password</a:t>
            </a:r>
            <a:br/>
            <a:r>
              <a:t>✓ Seeded roles authentication</a:t>
            </a:r>
            <a:br/>
            <a:r>
              <a:t>✓ Server-side RBAC protection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834640"/>
            <a:ext cx="2560320" cy="3291840"/>
          </a:xfrm>
          <a:prstGeom prst="roundRect">
            <a:avLst/>
          </a:prstGeom>
          <a:solidFill>
            <a:srgbClr val="101A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FFAB00"/>
                </a:solidFill>
              </a:defRPr>
            </a:pPr>
            <a:r>
              <a:t>Nghiệp Vụ &amp; Verify (10 Tests)</a:t>
            </a:r>
          </a:p>
          <a:p>
            <a:pPr>
              <a:lnSpc>
                <a:spcPct val="125000"/>
              </a:lnSpc>
              <a:defRPr sz="1000">
                <a:solidFill>
                  <a:srgbClr val="FFFFFF"/>
                </a:solidFill>
              </a:defRPr>
            </a:pPr>
            <a:r>
              <a:t>✓ Path Traversal prevention</a:t>
            </a:r>
            <a:br/>
            <a:r>
              <a:t>✓ 0-byte file rejection</a:t>
            </a:r>
            <a:br/>
            <a:r>
              <a:t>✓ Issue document &amp; append block</a:t>
            </a:r>
            <a:br/>
            <a:r>
              <a:t>✓ Revocation lifecycle</a:t>
            </a:r>
            <a:br/>
            <a:r>
              <a:t>✓ Happy path verification</a:t>
            </a:r>
            <a:br/>
            <a:r>
              <a:t>✓ Tampered content detection</a:t>
            </a:r>
            <a:br/>
            <a:r>
              <a:t>✓ Revoked document detection</a:t>
            </a:r>
            <a:br/>
            <a:r>
              <a:t>✓ Corrupted signature verdict</a:t>
            </a:r>
            <a:br/>
            <a:r>
              <a:t>✓ Web Crypto In-Browser 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834640"/>
            <a:ext cx="2560320" cy="3291840"/>
          </a:xfrm>
          <a:prstGeom prst="roundRect">
            <a:avLst/>
          </a:prstGeom>
          <a:solidFill>
            <a:srgbClr val="101A30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FF1744"/>
                </a:solidFill>
              </a:defRPr>
            </a:pPr>
            <a:r>
              <a:t>Kịch Bản Tấn Công (5 Tests)</a:t>
            </a:r>
          </a:p>
          <a:p>
            <a:pPr>
              <a:lnSpc>
                <a:spcPct val="125000"/>
              </a:lnSpc>
              <a:defRPr sz="1000">
                <a:solidFill>
                  <a:srgbClr val="FFFFFF"/>
                </a:solidFill>
              </a:defRPr>
            </a:pPr>
            <a:r>
              <a:t>✓ Bit-flip GPA modification</a:t>
            </a:r>
            <a:br/>
            <a:r>
              <a:t>✓ Rogue RSA key forgery</a:t>
            </a:r>
            <a:br/>
            <a:r>
              <a:t>✓ Direct database tampering</a:t>
            </a:r>
            <a:br/>
            <a:r>
              <a:t>✓ Malicious filename traversal</a:t>
            </a:r>
            <a:br/>
            <a:r>
              <a:t>✓ Revocation bypass attack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PHÂN TÍCH ĐÁNH ĐỔI BẮT BUỘC (TRADE-OFF ANALYSIS)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01A3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E5FF"/>
                </a:solidFill>
              </a:defRPr>
            </a:pPr>
            <a:r>
              <a:t>Toàn Vẹn Mật Mã vs. Quyền Riêng Tư Cá Nhân</a:t>
            </a:r>
          </a:p>
          <a:p>
            <a:pPr>
              <a:lnSpc>
                <a:spcPct val="130000"/>
              </a:lnSpc>
              <a:defRPr sz="1150">
                <a:solidFill>
                  <a:srgbClr val="FFFFFF"/>
                </a:solidFill>
              </a:defRPr>
            </a:pPr>
            <a:r>
              <a:t>• Bài toán: Nhà tuyển dụng gửi cả bảng điểm (chứa tên, địa chỉ, CCCD) lên server sẽ làm lộ dữ liệu cá nhân (PII).</a:t>
            </a:r>
            <a:br/>
            <a:r>
              <a:t>• Giải pháp SecuDoc: Thẩm định dựa trên mã băm SHA-256 độc lập. Server không lưu trữ file của người thẩm tra.</a:t>
            </a:r>
            <a:br/>
            <a:r>
              <a:t>• Đánh đổi: Tuân thủ tuyệt đối GDPR / Nghị định 13; ngăn chặn rủi ro rò rỉ dữ liệu diện rộng.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01A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AB00"/>
                </a:solidFill>
              </a:defRPr>
            </a:pPr>
            <a:r>
              <a:t>Khắt Khe Nhị Phân vs. Trải Nghiệm Người Dùng</a:t>
            </a:r>
          </a:p>
          <a:p>
            <a:pPr>
              <a:lnSpc>
                <a:spcPct val="130000"/>
              </a:lnSpc>
              <a:defRPr sz="1150">
                <a:solidFill>
                  <a:srgbClr val="FFFFFF"/>
                </a:solidFill>
              </a:defRPr>
            </a:pPr>
            <a:r>
              <a:t>• Bài toán: SHA-256 nhạy cảm tới từng bit. Nếu phần mềm điện thoại chèn thêm vài byte metadata cuối file, file sẽ bị báo TAMPERED.</a:t>
            </a:r>
            <a:br/>
            <a:r>
              <a:t>• Giải pháp SecuDoc: Giữ vững nguyên tắc Security First, kiên quyết từ chối mọi sai lệch nhị phân để ngăn mã độc Polyglot.</a:t>
            </a:r>
            <a:br/>
            <a:r>
              <a:t>• Giảm thiểu: Cung cấp giải thích chi tiết, đối chiếu hash kỳ vọng và hash thực tế trên giao diện.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01A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E676"/>
                </a:solidFill>
              </a:defRPr>
            </a:pPr>
            <a:r>
              <a:t>Sổ Cái Nội Bộ vs. Blockchain Công Khai</a:t>
            </a:r>
          </a:p>
          <a:p>
            <a:pPr>
              <a:lnSpc>
                <a:spcPct val="130000"/>
              </a:lnSpc>
              <a:defRPr sz="1150">
                <a:solidFill>
                  <a:srgbClr val="FFFFFF"/>
                </a:solidFill>
              </a:defRPr>
            </a:pPr>
            <a:r>
              <a:t>• Bài toán: Blockchain công khai (Ethereum) tốn gas fee đắt đỏ, độ trễ cao và phụ thuộc Internet.</a:t>
            </a:r>
            <a:br/>
            <a:r>
              <a:t>• Giải pháp SecuDoc: Sổ cái băm Cryptographic Hash Chain cục bộ.</a:t>
            </a:r>
            <a:br/>
            <a:r>
              <a:t>• Lợi ích: Tốc độ &lt;10ms, chi phí 0 đồng, độc lập hạ tầng mạng nội bộ trường học.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SECUDOC |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TỔNG KẾT VÀ HƯỚNG PHÁT TRIỂN TƯƠNG LAI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01A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E676"/>
                </a:solidFill>
              </a:defRPr>
            </a:pPr>
            <a:r>
              <a:t>KẾT QUẢ ĐẠT ĐƯỢC CỦA ĐỒ ÁN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Hoàn thành 100% các yêu cầu bắt buộc của học phần Bảo Mật Mạng và Hệ Thống.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Xây dựng trọn vẹn giải pháp Zero-Trust thực tế từ mật mã học tới ứng dụng web.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Chứng minh khả năng phát hiện 100% các cuộc tấn công can thiệp dữ liệu và giả mạo chữ ký.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Bộ 25 test cases tự động chạy đạt 100% trên môi trường Windows local.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✓ Đầy đủ tài liệu bàn giao: Báo cáo Word, Slide thuyết trình, Mã nguồn và Test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01A3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E5FF"/>
                </a:solidFill>
              </a:defRPr>
            </a:pPr>
            <a:r>
              <a:t>HẠN CHẾ VÀ HƯỚNG PHÁT TRIỂN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Hạn chế: Chưa tích hợp chữ ký số công cộng quốc gia (Viettel-CA, VNPT-CA).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Hạn chế: Dung lượng tải lên hiện giới hạn 10MB cho prototype local.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Hướng phát triển 1: Tích hợp chuẩn chứng chỉ số W3C Verifiable Credentials.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Hướng phát triển 2: Xây dựng ứng dụng di động quét mã QR chứa chữ ký nén để thẩm định offline hoàn toàn.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Hướng phát triển 3: Tích hợp Hardware Security Module (HSM) lưu trữ khóa riêng.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